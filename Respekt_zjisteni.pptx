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B0AC"/>
                </a:solidFill>
                <a:latin typeface="Calibri"/>
              </a:rPr>
              <a:t>PŘEDPLATITELSKÝ PRŮZKUM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Klíčová zjištění pro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CFD6"/>
                </a:solidFill>
                <a:latin typeface="Calibri"/>
              </a:rPr>
              <a:t>20 zjištění ve formátu: zjištění → evidence → co s tím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AD"/>
                </a:solidFill>
                <a:latin typeface="Calibri"/>
              </a:rPr>
              <a:t>N = 2 139 dokončených odpovědí   ·   export červen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2831"/>
                </a:solidFill>
                <a:latin typeface="Calibri"/>
              </a:rPr>
              <a:t>Exekutivní shrnutí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Báze je spokojená a loajální.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55648"/>
            <a:ext cx="5943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alibri"/>
              </a:rPr>
              <a:t>92 % vysoké setrvání, jen 12,8 % zvažuje odchod. Kotvou je hodnota a kvalita, ne cena.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Riziko je v rozložení, ne v průměru.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5943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alibri"/>
              </a:rPr>
              <a:t>Churn se koncentruje: první rok (17 %), pasivní digitál (19 %), mladší muži (18 %).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12464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Tři produktové páky.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96512"/>
            <a:ext cx="5943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alibri"/>
              </a:rPr>
              <a:t>Audio / AI hlas, vyhledávání a archiv, přehlednost aplikace.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82896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Redakční signály jsou menšinové, ale hlasité.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66944"/>
            <a:ext cx="5943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831"/>
                </a:solidFill>
                <a:latin typeface="Calibri"/>
              </a:rPr>
              <a:t>Kultura, vnímaná jednostrannost, „depresivní“ tón, délka.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371600"/>
            <a:ext cx="4892040" cy="4937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Calibri"/>
              </a:rPr>
              <a:t>TOP 5 DOPORUČENÍ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4884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1.  </a:t>
            </a:r>
            <a:r>
              <a:rPr sz="1450">
                <a:solidFill>
                  <a:srgbClr val="222831"/>
                </a:solidFill>
                <a:latin typeface="Calibri"/>
              </a:rPr>
              <a:t>Onboarding prvního roku — dovést k návyku.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2.  </a:t>
            </a:r>
            <a:r>
              <a:rPr sz="1450">
                <a:solidFill>
                  <a:srgbClr val="222831"/>
                </a:solidFill>
                <a:latin typeface="Calibri"/>
              </a:rPr>
              <a:t>Aktivace utlumených (frekvence = early-warning).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3.  </a:t>
            </a:r>
            <a:r>
              <a:rPr sz="1450">
                <a:solidFill>
                  <a:srgbClr val="222831"/>
                </a:solidFill>
                <a:latin typeface="Calibri"/>
              </a:rPr>
              <a:t>Audio jako priorita — zlepšit hlas i aktivovat.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4.  </a:t>
            </a:r>
            <a:r>
              <a:rPr sz="1450">
                <a:solidFill>
                  <a:srgbClr val="222831"/>
                </a:solidFill>
                <a:latin typeface="Calibri"/>
              </a:rPr>
              <a:t>Vyhledávání + přehlednost do app roadmapy.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5.  </a:t>
            </a:r>
            <a:r>
              <a:rPr sz="1450">
                <a:solidFill>
                  <a:srgbClr val="222831"/>
                </a:solidFill>
                <a:latin typeface="Calibri"/>
              </a:rPr>
              <a:t>Chránit jádro a komunikovat hodnotu, ne slevu.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Báze je spokojená a loajální — kotvou je hodnota, ne cena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92 % udává vysokou/velmi vysokou pravděpodobnost setrvání; jen 12,8 % zvažovalo odchod.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Spokojenost s atributy je 90–99 % napříč.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Chvála stojí na šíři témat (461), hloubce (385) a kvalitě psaní (370).</a:t>
            </a:r>
          </a:p>
        </p:txBody>
      </p:sp>
      <p:pic>
        <p:nvPicPr>
          <p:cNvPr id="5" name="Picture 4" descr="chv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05" y="1645920"/>
            <a:ext cx="5447388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Chránit jádro (hloubka, šíře, nezávislost, kvalita psaní) a komunikovat hodnotu, ne slevu.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Retence se láme v prvním roce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Churn &lt; 1 rok 17 % a 1–5 let 16 % vs. 16–20 let jen 5 %.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Noví předplatitelé (151) jsou nejkřehčí fáze.</a:t>
            </a:r>
          </a:p>
        </p:txBody>
      </p:sp>
      <p:pic>
        <p:nvPicPr>
          <p:cNvPr id="5" name="Picture 4" descr="churn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693" y="1645920"/>
            <a:ext cx="5742813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Onboarding prvního roku — dovést k návyku (archiv, audio, hloubka). Měřit retenci v prvních 12 měsících.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Zapojení = retence; pasivní digitál je tichý odchod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Pasivní digitál (178): churn 19 % vs. digitální jádro (688): 10 %.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Web vůbec nepoužívá 23–27 % mladších kohort.</a:t>
            </a:r>
          </a:p>
        </p:txBody>
      </p:sp>
      <p:pic>
        <p:nvPicPr>
          <p:cNvPr id="5" name="Picture 4" descr="churn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45305"/>
            <a:ext cx="5806440" cy="26644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Frekvenci návštěv brát jako early-warning churnu; reaktivovat utlumené (newsletter, notifikace, audio).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Mladší muži jsou nejrizikovější kohorta — táhne to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Churn mladší muži 18 % vs. starší ženy 8,5 %.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Nejvíc je trápí audio (21 %) a UX / ovládání (16 %).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„Nic nevadí“ řekne jen 5 % mladších mužů — nejkritičtější.</a:t>
            </a:r>
          </a:p>
        </p:txBody>
      </p:sp>
      <p:pic>
        <p:nvPicPr>
          <p:cNvPr id="5" name="Picture 4" descr="heat_rizi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233249"/>
            <a:ext cx="5806440" cy="18885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Udržení mladších = produktové investice (audio, aplikace, UX), ne další obsah.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Audio je jediná slabina spokojenosti — a největší příležitost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Audio nejnižší spokojenost: 83 % (mladší muži 72 %) vs. 95–99 % u ostatních atributů.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Výtky k audiu / AI hlasu 102; volný text přidal +20 zmínek.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1 026 lidí audio nevyužívá; dalších 119 poslech v appce nezkusilo.</a:t>
            </a:r>
          </a:p>
        </p:txBody>
      </p:sp>
      <p:pic>
        <p:nvPicPr>
          <p:cNvPr id="5" name="Picture 4" descr="heat_spokojen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475" y="1645920"/>
            <a:ext cx="5651248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Zlepšit kvalitu AI hlasu (výslovnost, rozlišení hlasů) a aktivovat ty, kdo audio zatím míjejí.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Vyhledávání a archiv = nejkonkrétnější funkční mezera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Vyhledávání: výtka 32×, nevyžádaně v bariérách 13×, přání v appce 229.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Přehlednost / archiv / orientace: 36 výtek.</a:t>
            </a:r>
          </a:p>
        </p:txBody>
      </p:sp>
      <p:pic>
        <p:nvPicPr>
          <p:cNvPr id="5" name="Picture 4" descr="vyhledav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229170"/>
            <a:ext cx="5806440" cy="18967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Vyhledávání a orientaci v archivu vysoko na app/web roadmapu — opakovaná a řešitelná rychlá výhra.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Tisk není setrvačnost — je to rituál a kotva retence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Část digitál aktivně odmítá: preferuje tisk (15), digitál jako doplněk (20).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„Tištěné posílám rodině“ (12) — opakovaný vzorec.</a:t>
            </a:r>
          </a:p>
        </p:txBody>
      </p:sp>
      <p:pic>
        <p:nvPicPr>
          <p:cNvPr id="5" name="Picture 4" descr="tisk_ri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126507"/>
            <a:ext cx="5806440" cy="21020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Nehnat všechny do digitálu; chránit tištěný zážitek. Potenciál pro dárkové a rodinné předplatné.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Obsahové výtky míří na kulturu, jednostrannost a tón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Kulturní rubrika 85, jednostrannost / bias 64, délka 67, tón 28.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Hodnotové souznění je v chvále (173) i ve výtce (bias 64) — stejná osa, opačná valence.</a:t>
            </a:r>
          </a:p>
        </p:txBody>
      </p:sp>
      <p:pic>
        <p:nvPicPr>
          <p:cNvPr id="5" name="Picture 4" descr="vyt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811" y="1645920"/>
            <a:ext cx="4350576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Redakční reflexe kultury, vyváženosti a délky; „bias“ je menšinový, ale hlasitý a hodnotově nabitý signál.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Mladé publikum chce jiný obsah; akvizici táhne mise + sleva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Mladší ženy: reportáže 42 %, rodina a vztahy 15 %, míň politiky; mladší muži politika 44 %.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Konverze mladých: podpora médií 73 % a sleva 22 % (vs. 9–12 % u starších).</a:t>
            </a:r>
          </a:p>
        </p:txBody>
      </p:sp>
      <p:pic>
        <p:nvPicPr>
          <p:cNvPr id="5" name="Picture 4" descr="heat_zaj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984" y="1645920"/>
            <a:ext cx="5046231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Cílený obsah a marketing pro mladší; slevová akvizice funguje, ale bez onboardingu prvního roku je ztratíme.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Konkurence je Deník N a veřejnoprávní; publikum je náročné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Nejčastější jiný zdroj: Deník N 549, iRozhlas 414, Seznam 403, ČT 374.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Předplatitelé kombinují domácí + veřejnoprávní + zahraniční zdroje.</a:t>
            </a:r>
          </a:p>
        </p:txBody>
      </p:sp>
      <p:pic>
        <p:nvPicPr>
          <p:cNvPr id="5" name="Picture 4" descr="zdro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05" y="1645920"/>
            <a:ext cx="5447388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Sledovat Deník N jako přímého konkurenta; odlišení stavět na hloubce, kurátorství a překladech (66).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B0AC"/>
                </a:solidFill>
                <a:latin typeface="Calibri"/>
              </a:rPr>
              <a:t>11–20  ·  JEMNĚJŠÍ VZORCE A PRODUKTOVÉ DETAILY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Hlubší zjištění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Cena není churn páka — citlivost na cenu je minimální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4297680" cy="2651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2976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0392B"/>
                </a:solidFill>
                <a:latin typeface="Calibri"/>
              </a:rPr>
              <a:t>11×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4297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zmínek o ceně ve výtkách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(z 1 307 odpovědí)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20240"/>
            <a:ext cx="64922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Cena / paywall ve výtkách jen 11× — prakticky na dně 16 témat.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Sleva jako konverzní motiv hraje roli hlavně u mladých a nových.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Zdražení nese menší riziko, než se obvykle čeká, pokud zůstane hodnota. Slevu cíleně na mladé, ne plošně.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Publikum chce delší obsah, ne kratší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U textů: 67 % spíše delší, jen 17 % kratší → 4 z 5 lidí s názorem chtějí delší.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Audioverze 64 %, podcasty 61 % (z těch s názorem).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Proti tomu „moc dlouhé“ jen 67 výtek = hlasitá menšina.</a:t>
            </a:r>
          </a:p>
        </p:txBody>
      </p:sp>
      <p:pic>
        <p:nvPicPr>
          <p:cNvPr id="5" name="Picture 4" descr="delka_p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62577"/>
            <a:ext cx="5806440" cy="30299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Nepřeklápět produkt ke krátkému obsahu; zkracovat selektivně. U videa naopak prostor pro kratší formát.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Kdo odchází kvůli obsahu, vadí mu jednostrannost a tón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Churneři over-index: bias 6 vs. 3 %, dále délka, kultura, tón.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Dvě churn-pružiny: produktová (mladší muži) a hodnotově-redakční.</a:t>
            </a:r>
          </a:p>
        </p:txBody>
      </p:sp>
      <p:pic>
        <p:nvPicPr>
          <p:cNvPr id="5" name="Picture 4" descr="churneri_over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022" y="1645920"/>
            <a:ext cx="5578154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Retence musí mířit na obě osy zvlášť — produktové opravy neudrží toho, kdo odchází kvůli vnímané jednostrannosti.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Homepage není vstupní bod — distribuce přes newsletter a sítě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4297680" cy="2651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2976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0392B"/>
                </a:solidFill>
                <a:latin typeface="Calibri"/>
              </a:rPr>
              <a:t>15 + 8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4297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přes odkaz / homepage nepoužívá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→ newsletter a sítě = vstupní brána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20240"/>
            <a:ext cx="64922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Část přichází přes externí odkaz (newsletter, sítě, RSS, QR z tisku) — 15.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Část homepage prakticky nepoužívá — 8 (jde rovnou na audio, RSS, papír).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Brát newsletter a sociální sítě jako distribuční kanál, ne marketingovou ozdobu — investovat do nich.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Audio a offline jsou tahouny přechodu na digitál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Důvody přechodu: pohodlí 529, audio jen digitálně 344, praktické 298, ekologie 200.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Offline: stáhnout vydání 366, „lepší offline režim“ 93.</a:t>
            </a:r>
          </a:p>
        </p:txBody>
      </p:sp>
      <p:pic>
        <p:nvPicPr>
          <p:cNvPr id="5" name="Picture 4" descr="digital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45305"/>
            <a:ext cx="5806440" cy="26644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Audio a offline čtení = on-ramp na digitál; propagovat je jako důvod vyzkoušet appku, doladit offline režim.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Přístupnost (velikost písma) je snadná výhra vzhledem k věku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4297680" cy="2651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2976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0392B"/>
                </a:solidFill>
                <a:latin typeface="Calibri"/>
              </a:rPr>
              <a:t>45+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4297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věk většiny báze —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dopad přístupnosti je velký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20240"/>
            <a:ext cx="64922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Nevyžádaně v poli „co chybí“: přístupnost (velikost písma, zoom, čtení bez brýlí) 10×.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Věkový profil báze je starší — dopad je nadproporční.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Nastavitelná velikost písma a zoom obrázků = low-effort / high-fit zásah do aplikace.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Top přání v aplikaci: odlišit přečtené, offline, vlastní playlist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Odlišení přečteného 251, offline 366, otevírat ze sítí 126, playlist 120, CarPlay 118.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Z volného textu: přehlednost UI (12), výkon / stabilita (10).</a:t>
            </a:r>
          </a:p>
        </p:txBody>
      </p:sp>
      <p:pic>
        <p:nvPicPr>
          <p:cNvPr id="5" name="Picture 4" descr="app_pr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15033"/>
            <a:ext cx="5806440" cy="29250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App roadmapa: orientace ve vydání (co už jsem četl), offline, audio playlist a CarPlay.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Poslech v aplikaci prohrává s agregátory — cíl jsou ti, kdo nezkusili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0749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Důvod není chyba: jiná platforma (Spotify/Apple) 126, zvyk 30, agregace 65.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•  </a:t>
            </a:r>
            <a:r>
              <a:rPr sz="1450">
                <a:solidFill>
                  <a:srgbClr val="222831"/>
                </a:solidFill>
                <a:latin typeface="Calibri"/>
              </a:rPr>
              <a:t>119 lidí poslech v appce vůbec nezkusilo; tech. problémy (21) jsou menšina.</a:t>
            </a:r>
          </a:p>
        </p:txBody>
      </p:sp>
      <p:pic>
        <p:nvPicPr>
          <p:cNvPr id="5" name="Picture 4" descr="poslech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06646"/>
            <a:ext cx="5806440" cy="27417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Nepřetahovat ze Spotify; cílit na 119 nevyzkoušejících a nabídnout, co agregátor neumí (návaznost na text).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Loajalita stojí na dvou osách: důvěra/fakta vs. vyváženost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4297680" cy="2651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2976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C0392B"/>
                </a:solidFill>
                <a:latin typeface="Calibri"/>
              </a:rPr>
              <a:t>194 : 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4297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důvěra/fakta vs. vyváženost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— dva různé důvody loajality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20240"/>
            <a:ext cx="64922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Důvěra / ověřená fakta (194) a vyváženost / objektivita (170) jsou dva různé důvody.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Serióznost vs. nestrannost úhlů — rezonují u různých lidí.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V komunikaci nezaměňovat „věříme faktům“ a „dáváme různé úhly“; vyváženost je táž osa, kterou jiní kritizují jako bias.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ZJIŠTĚNÍ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22831"/>
                </a:solidFill>
                <a:latin typeface="Calibri"/>
              </a:rPr>
              <a:t>Drobné, ale opakované značkové signály: obálka a tón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4297680" cy="265176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2976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0392B"/>
                </a:solidFill>
                <a:latin typeface="Calibri"/>
              </a:rPr>
              <a:t>39 + 28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4297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obálka/ilustrace + „depresivní“ tón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— emoční vazba ke značce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20240"/>
            <a:ext cx="64922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Grafika / obálka / ilustrace 39 — opakované „chybí Reisenauer“.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>
                <a:solidFill>
                  <a:srgbClr val="222831"/>
                </a:solidFill>
                <a:latin typeface="Calibri"/>
              </a:rPr>
              <a:t>Tón / víc pozitivního 28 — „depresivní“, chybí naděje a řešení.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3834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CO S TÍM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10579608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831"/>
                </a:solidFill>
                <a:latin typeface="Calibri"/>
              </a:rPr>
              <a:t>Vizuální identita má emoční vazbu ke značce; zvážit konstruktivní / řešení-orientovaný obsah jako protiváhu.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Tři priority do akce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640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Udržet nové a utlumené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926080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FD6"/>
                </a:solidFill>
                <a:latin typeface="Calibri"/>
              </a:rPr>
              <a:t>Onboarding prvního roku + aktivace pasivního digitálu. Frekvence návštěv jako early-warning.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640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749039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Produktové páky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206240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FD6"/>
                </a:solidFill>
                <a:latin typeface="Calibri"/>
              </a:rPr>
              <a:t>Audio / AI hlas, vyhledávání a archiv, přehlednost aplikace — kde se láme udržení mladších.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640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02920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Chránit jádro a hodnotu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486400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FD6"/>
                </a:solidFill>
                <a:latin typeface="Calibri"/>
              </a:rPr>
              <a:t>Hloubka, nezávislost, tištěný rituál. Komunikovat hodnotu, ne slevu; cena není churn páka.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